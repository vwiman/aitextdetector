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C2B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137160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AI-textdetektor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502920" y="2560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 skilja mänskligt och AI-genererat skrivande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02920" y="3246120"/>
            <a:ext cx="3200400" cy="36576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34290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Neuralt nätverk  ·  TF-IDF  ·  ~80% noggrannhet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74320"/>
            <a:ext cx="7818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Uppdraget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02920" y="1097280"/>
            <a:ext cx="4663440" cy="2743200"/>
          </a:xfrm>
          <a:prstGeom prst="rect">
            <a:avLst/>
          </a:prstGeom>
          <a:solidFill>
            <a:srgbClr val="F0F6F9"/>
          </a:solidFill>
          <a:ln w="12700">
            <a:solidFill>
              <a:srgbClr val="F0F6F9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9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04088" y="1261872"/>
            <a:ext cx="4315968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 fick i uppdrag att utveckla ett verktyg som kan avgöra om en text är skriven av en människa eller genererad av AI.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Uppdraget kom inte från det håll man kanske förväntar sig.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Uppdragsgivarna var inte ute efter att avslöja fuskare — de ville förstå skillnaderna för att göra sin AI-genererade kommunikation </a:t>
            </a:r>
            <a:pPr indent="0" marL="0">
              <a:buNone/>
            </a:pPr>
            <a:r>
              <a:rPr lang="en-US" sz="13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varmare, mer personlig och lättare att ta till sig.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486400" y="1097280"/>
            <a:ext cx="2834640" cy="274320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9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623560" y="1207008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Tänkbara uppdragsgivare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623560" y="1664208"/>
            <a:ext cx="265176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Psykologmottagningar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Primärvård &amp; vårdcentraler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Socialförvaltningar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HR-avdelningar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Utbildningsinstitutioner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74320"/>
            <a:ext cx="7818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Vår vinkel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02920" y="1097280"/>
            <a:ext cx="3566160" cy="2926080"/>
          </a:xfrm>
          <a:prstGeom prst="rect">
            <a:avLst/>
          </a:prstGeom>
          <a:solidFill>
            <a:srgbClr val="F0F6F9"/>
          </a:solidFill>
          <a:ln w="12700">
            <a:solidFill>
              <a:srgbClr val="F0F6F9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9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02920" y="1097280"/>
            <a:ext cx="3566160" cy="402336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12648" y="1115568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Traditionell syn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67512" y="1609344"/>
            <a:ext cx="3291840" cy="22677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Avslöja AI-text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Flagga automatgenererat innehåll, hitta fuskare i akademiska sammanhang och skydda mot desinformation.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389120" y="1097280"/>
            <a:ext cx="3931920" cy="2926080"/>
          </a:xfrm>
          <a:prstGeom prst="rect">
            <a:avLst/>
          </a:prstGeom>
          <a:solidFill>
            <a:srgbClr val="E0F5F2"/>
          </a:solidFill>
          <a:ln w="12700">
            <a:solidFill>
              <a:srgbClr val="E0F5F2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9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389120" y="1097280"/>
            <a:ext cx="3931920" cy="402336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498848" y="1115568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Vår syn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553712" y="1609344"/>
            <a:ext cx="3657600" cy="22677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Förstå skillnaderna — och minska dem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Verktyget fungerar som en spegel. Identifiera vad som skiljer mänskligt och maskinellt skrivande åt, och gör AI-text </a:t>
            </a:r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varmare och mer personlig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särskilt viktigt i vård och omsorg.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74320"/>
            <a:ext cx="7818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Metoden — tre feature-kanaler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02920" y="914400"/>
            <a:ext cx="7818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 parallella feature-kanaler kombineras till en enda inmatning i nätverket.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1371600"/>
            <a:ext cx="2520696" cy="3063240"/>
          </a:xfrm>
          <a:prstGeom prst="rect">
            <a:avLst/>
          </a:prstGeom>
          <a:solidFill>
            <a:srgbClr val="F0F6F9"/>
          </a:solidFill>
          <a:ln w="12700">
            <a:solidFill>
              <a:srgbClr val="F0F6F9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9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470660" y="1444752"/>
            <a:ext cx="585216" cy="585216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470660" y="144475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94360" y="2139696"/>
            <a:ext cx="233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Ord-TF-IDF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94360" y="2514600"/>
            <a:ext cx="2337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20 000 features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30936" y="2834640"/>
            <a:ext cx="2264664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Fångar vilka ord och fraser som används. AI-text återkommer till formuleringar som "sammanfattningsvis" och "det bör noteras" som sällan dyker upp i naturligt skrivande.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3151632" y="1371600"/>
            <a:ext cx="2520696" cy="3063240"/>
          </a:xfrm>
          <a:prstGeom prst="rect">
            <a:avLst/>
          </a:prstGeom>
          <a:solidFill>
            <a:srgbClr val="F0F6F9"/>
          </a:solidFill>
          <a:ln w="12700">
            <a:solidFill>
              <a:srgbClr val="F0F6F9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9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119372" y="1444752"/>
            <a:ext cx="585216" cy="585216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119372" y="144475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3243072" y="2139696"/>
            <a:ext cx="233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Tecken-TF-IDF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243072" y="2514600"/>
            <a:ext cx="2337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8 000 features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279648" y="2834640"/>
            <a:ext cx="2264664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Analyserar mönster på teckennivå — interpunktion, stavning, radbrytningar. char_wb n-gram (3–4 tecken) avslöjar stilistiska val som ordnivån missar.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800344" y="1371600"/>
            <a:ext cx="2520696" cy="3063240"/>
          </a:xfrm>
          <a:prstGeom prst="rect">
            <a:avLst/>
          </a:prstGeom>
          <a:solidFill>
            <a:srgbClr val="F0F6F9"/>
          </a:solidFill>
          <a:ln w="12700">
            <a:solidFill>
              <a:srgbClr val="F0F6F9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9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768084" y="1444752"/>
            <a:ext cx="585216" cy="585216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768084" y="144475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5891784" y="2139696"/>
            <a:ext cx="233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Textstatistik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5891784" y="2514600"/>
            <a:ext cx="2337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features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928360" y="2834640"/>
            <a:ext cx="2264664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Ordantal, genomsnittlig meningslängd och lexikal mångfald. AI-text är ofta anmärkningsvärt jämn och välbalanserad — vilket paradoxalt avslöjar den.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74320"/>
            <a:ext cx="7818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&amp; Förbehandling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02920" y="1005840"/>
            <a:ext cx="2545080" cy="1371600"/>
          </a:xfrm>
          <a:prstGeom prst="rect">
            <a:avLst/>
          </a:prstGeom>
          <a:solidFill>
            <a:srgbClr val="1C2B4A"/>
          </a:solidFill>
          <a:ln w="12700">
            <a:solidFill>
              <a:srgbClr val="1C2B4A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9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02920" y="1078992"/>
            <a:ext cx="2545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332 000+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502920" y="1847088"/>
            <a:ext cx="2545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texter i datasetet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139440" y="1005840"/>
            <a:ext cx="2545080" cy="1371600"/>
          </a:xfrm>
          <a:prstGeom prst="rect">
            <a:avLst/>
          </a:prstGeom>
          <a:solidFill>
            <a:srgbClr val="1C2B4A"/>
          </a:solidFill>
          <a:ln w="12700">
            <a:solidFill>
              <a:srgbClr val="1C2B4A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9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139440" y="1078992"/>
            <a:ext cx="2545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265 000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139440" y="1847088"/>
            <a:ext cx="2545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träningstexter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775960" y="1005840"/>
            <a:ext cx="2545080" cy="1371600"/>
          </a:xfrm>
          <a:prstGeom prst="rect">
            <a:avLst/>
          </a:prstGeom>
          <a:solidFill>
            <a:srgbClr val="1C2B4A"/>
          </a:solidFill>
          <a:ln w="12700">
            <a:solidFill>
              <a:srgbClr val="1C2B4A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9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775960" y="1078992"/>
            <a:ext cx="2545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66 000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5775960" y="1847088"/>
            <a:ext cx="2545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testtexter (30%)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02920" y="254203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Förbehandlingssteg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502920" y="2944368"/>
            <a:ext cx="7818120" cy="16642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 bort källnamn &amp; URL:er (remove_source_leaks)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Dela upp i träning / test FÖRE TF-IDF — undviker datainläckage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Anpassa ord-TF-IDF och tecken-TF-IDF enbart på träningsdata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Beräkna textstatistik (ordantal, meningslängd, lexikal mångfald)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Kombinera kanalerna med hstack → StandardScaler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74320"/>
            <a:ext cx="7818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Modell &amp; Resultat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02920" y="1097280"/>
            <a:ext cx="3794760" cy="3474720"/>
          </a:xfrm>
          <a:prstGeom prst="rect">
            <a:avLst/>
          </a:prstGeom>
          <a:solidFill>
            <a:srgbClr val="F0F6F9"/>
          </a:solidFill>
          <a:ln w="12700">
            <a:solidFill>
              <a:srgbClr val="F0F6F9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9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67512" y="1207008"/>
            <a:ext cx="3520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Arkitektur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67512" y="1664208"/>
            <a:ext cx="3520440" cy="566928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58952" y="1700784"/>
            <a:ext cx="33558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58952" y="1975104"/>
            <a:ext cx="33558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28 003 features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67512" y="2359152"/>
            <a:ext cx="3520440" cy="566928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58952" y="2395728"/>
            <a:ext cx="33558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Dense 32  tanh  + Dropout 0.4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58952" y="2670048"/>
            <a:ext cx="33558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L2-regularisering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67512" y="3054096"/>
            <a:ext cx="3520440" cy="566928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58952" y="3090672"/>
            <a:ext cx="33558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Dense 16  tanh  + Dropout 0.3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58952" y="3364992"/>
            <a:ext cx="33558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L2-regularisering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67512" y="3749040"/>
            <a:ext cx="3520440" cy="566928"/>
          </a:xfrm>
          <a:prstGeom prst="rect">
            <a:avLst/>
          </a:prstGeom>
          <a:solidFill>
            <a:srgbClr val="1C2B4A"/>
          </a:solidFill>
          <a:ln w="12700">
            <a:solidFill>
              <a:srgbClr val="1C2B4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58952" y="3785616"/>
            <a:ext cx="33558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Dense 1  sigmoid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758952" y="4059936"/>
            <a:ext cx="33558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Binär klassificering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26280" y="1097280"/>
            <a:ext cx="3794760" cy="3474720"/>
          </a:xfrm>
          <a:prstGeom prst="rect">
            <a:avLst/>
          </a:prstGeom>
          <a:solidFill>
            <a:srgbClr val="1C2B4A"/>
          </a:solidFill>
          <a:ln w="12700">
            <a:solidFill>
              <a:srgbClr val="1C2B4A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9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690872" y="1207008"/>
            <a:ext cx="3520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4526280" y="1664208"/>
            <a:ext cx="3794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~80%</a:t>
            </a:r>
            <a:endParaRPr lang="en-US" sz="5200" dirty="0"/>
          </a:p>
        </p:txBody>
      </p:sp>
      <p:sp>
        <p:nvSpPr>
          <p:cNvPr id="21" name="Text 19"/>
          <p:cNvSpPr/>
          <p:nvPr/>
        </p:nvSpPr>
        <p:spPr>
          <a:xfrm>
            <a:off x="4526280" y="2578608"/>
            <a:ext cx="3794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noggrannhet på testdata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690872" y="2999232"/>
            <a:ext cx="2468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Precision (AI)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7223760" y="2999232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0.83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690872" y="3374136"/>
            <a:ext cx="2468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 (AI)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7223760" y="3374136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0.82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690872" y="3749040"/>
            <a:ext cx="2468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F1-score (snitt)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7223760" y="3749040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0.83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4690872" y="4123944"/>
            <a:ext cx="2468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 stopping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7223760" y="4123944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val_loss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74320"/>
            <a:ext cx="7818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Grid Search — hyperparameteroptimering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02920" y="896112"/>
            <a:ext cx="7818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scikeras + GridSearchCV, 3-fold korsvalidering, körs på urval för hanterbar körtid.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1353312"/>
            <a:ext cx="3749040" cy="3200400"/>
          </a:xfrm>
          <a:prstGeom prst="rect">
            <a:avLst/>
          </a:prstGeom>
          <a:solidFill>
            <a:srgbClr val="F0F6F9"/>
          </a:solidFill>
          <a:ln w="12700">
            <a:solidFill>
              <a:srgbClr val="F0F6F9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9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67512" y="1481328"/>
            <a:ext cx="3474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Sökta parametrar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67512" y="1938528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Aktivering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2880360" y="1938528"/>
            <a:ext cx="1234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relu, tanh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67512" y="2340864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Dropout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880360" y="2340864"/>
            <a:ext cx="1234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 / 0.3 / 0.4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67512" y="2743200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Inlärningshastighet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2880360" y="2743200"/>
            <a:ext cx="1234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0.001, 0.00003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67512" y="3145536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Optimizer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880360" y="3145536"/>
            <a:ext cx="1234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67512" y="3547872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Neuroner lager 1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2880360" y="3547872"/>
            <a:ext cx="1234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67512" y="3950208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Neuroner lager 2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880360" y="3950208"/>
            <a:ext cx="1234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0" y="1353312"/>
            <a:ext cx="3749040" cy="3200400"/>
          </a:xfrm>
          <a:prstGeom prst="rect">
            <a:avLst/>
          </a:prstGeom>
          <a:solidFill>
            <a:srgbClr val="1C2B4A"/>
          </a:solidFill>
          <a:ln w="12700">
            <a:solidFill>
              <a:srgbClr val="1C2B4A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9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736592" y="1481328"/>
            <a:ext cx="3474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Bästa resultat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4572000" y="1901952"/>
            <a:ext cx="37490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tanh</a:t>
            </a:r>
            <a:endParaRPr lang="en-US" sz="5400" dirty="0"/>
          </a:p>
        </p:txBody>
      </p:sp>
      <p:sp>
        <p:nvSpPr>
          <p:cNvPr id="22" name="Text 20"/>
          <p:cNvSpPr/>
          <p:nvPr/>
        </p:nvSpPr>
        <p:spPr>
          <a:xfrm>
            <a:off x="4572000" y="2670048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vann över relu som aktivering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572000" y="3035808"/>
            <a:ext cx="37490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Dropout 0.4  ·  lr 0.001  ·  adam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Balanced accuracy: 0.61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572000" y="3822192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Tillämpades direkt i config.py — aktivering ändrades från relu till tanh.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74320"/>
            <a:ext cx="7818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Webbappen — Streamlit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02920" y="950976"/>
            <a:ext cx="7818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 run app.py  →  localhost:8501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1417320"/>
            <a:ext cx="3794760" cy="1481328"/>
          </a:xfrm>
          <a:prstGeom prst="rect">
            <a:avLst/>
          </a:prstGeom>
          <a:solidFill>
            <a:srgbClr val="F0F6F9"/>
          </a:solidFill>
          <a:ln w="12700">
            <a:solidFill>
              <a:srgbClr val="F0F6F9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9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67512" y="1581912"/>
            <a:ext cx="502920" cy="502920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67512" y="158191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307592" y="1600200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Klistra in text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85800" y="2075688"/>
            <a:ext cx="3447288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Valfri text matas in i ett textfält direkt i webbläsaren — ingen kod behövs.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26280" y="1417320"/>
            <a:ext cx="3794760" cy="1481328"/>
          </a:xfrm>
          <a:prstGeom prst="rect">
            <a:avLst/>
          </a:prstGeom>
          <a:solidFill>
            <a:srgbClr val="F0F6F9"/>
          </a:solidFill>
          <a:ln w="12700">
            <a:solidFill>
              <a:srgbClr val="F0F6F9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9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90872" y="1581912"/>
            <a:ext cx="502920" cy="502920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90872" y="158191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5330952" y="1600200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 i realtid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709160" y="2075688"/>
            <a:ext cx="3447288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Samma pipeline som träningen: källrensning → TF-IDF → statistik → skalning → förutsägelse.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02920" y="3081528"/>
            <a:ext cx="3794760" cy="1481328"/>
          </a:xfrm>
          <a:prstGeom prst="rect">
            <a:avLst/>
          </a:prstGeom>
          <a:solidFill>
            <a:srgbClr val="F0F6F9"/>
          </a:solidFill>
          <a:ln w="12700">
            <a:solidFill>
              <a:srgbClr val="F0F6F9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9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67512" y="3246120"/>
            <a:ext cx="502920" cy="502920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67512" y="32461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307592" y="3264408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Tydligt resultat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85800" y="3739896"/>
            <a:ext cx="3447288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Visar AI / Människa / Oklart med konfidenspoäng och de ord som påverkade beslutet mest.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526280" y="3081528"/>
            <a:ext cx="3794760" cy="1481328"/>
          </a:xfrm>
          <a:prstGeom prst="rect">
            <a:avLst/>
          </a:prstGeom>
          <a:solidFill>
            <a:srgbClr val="F0F6F9"/>
          </a:solidFill>
          <a:ln w="12700">
            <a:solidFill>
              <a:srgbClr val="F0F6F9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9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690872" y="3246120"/>
            <a:ext cx="502920" cy="502920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690872" y="32461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5330952" y="3264408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4709160" y="3739896"/>
            <a:ext cx="3447288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Ladda ned en komplett analysrapport som CSV-fil direkt från webbläsaren.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C2B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411480"/>
            <a:ext cx="7818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Slutsats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54864" cy="566928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04088" y="1298448"/>
            <a:ext cx="76169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Verktyget fungerar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04088" y="1600200"/>
            <a:ext cx="7616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~80% noggrannhet med tre komplementära feature-kanaler på ett stort och varierat dataset.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02920" y="2212848"/>
            <a:ext cx="54864" cy="566928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04088" y="2212848"/>
            <a:ext cx="76169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ny vinkel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04088" y="2514600"/>
            <a:ext cx="7616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AI-textdetektering behöver inte bara handla om att avslöja — det kan vara ett verktyg för bättre mänsklig kommunikation.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02920" y="3127248"/>
            <a:ext cx="54864" cy="566928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04088" y="3127248"/>
            <a:ext cx="76169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Grid search gav svar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04088" y="3429000"/>
            <a:ext cx="7616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tanh visade sig bättre än relu — ett resultat som direkt tillämpades i config.py och förbättrade modellen.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02920" y="4041648"/>
            <a:ext cx="54864" cy="566928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04088" y="4041648"/>
            <a:ext cx="76169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Redo att använda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704088" y="4343400"/>
            <a:ext cx="7616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Webbappen gör det möjligt att testa modellen utan teknisk bakgrund.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AI-textdetektor</dc:title>
  <dc:subject>PptxGenJS Presentation</dc:subject>
  <dc:creator>PptxGenJS</dc:creator>
  <cp:lastModifiedBy>PptxGenJS</cp:lastModifiedBy>
  <cp:revision>1</cp:revision>
  <dcterms:created xsi:type="dcterms:W3CDTF">2026-05-27T16:21:23Z</dcterms:created>
  <dcterms:modified xsi:type="dcterms:W3CDTF">2026-05-27T16:21:23Z</dcterms:modified>
</cp:coreProperties>
</file>