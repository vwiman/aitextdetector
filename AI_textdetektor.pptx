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425BFFB-1E6B-472F-9D26-FB6B5E0066C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EAD86C-112F-4AC9-86A3-BAA6A70476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C8E7E-A475-4233-BE1D-01EE52A829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8C146E-4536-44AB-BAC3-53E8D7E04E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8889C2-D6F4-4D13-B8F4-D80590433A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6126C1-020B-414A-B5FB-85B39CD262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4249FD-1887-4C79-A0B3-AF2B9B7BDD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574893-D436-408F-927E-3444DBBE9C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7A0735-1A14-460F-A410-084F02EEFF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684137-268E-4827-B7EF-97DED17FB7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B9163D-8148-4D98-855C-2CD3E6EE28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B55877-A28C-4E9B-83A3-F7C05076DC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E93FB0-2349-48F4-B6F4-7DBEEC082A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81861F-4C3C-49CC-81A4-E28EF520B7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2876FC-9881-422A-8E9A-2E9408CA1B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02920" y="13716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AI-textdetektor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02920" y="2560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Att skilja mänskligt och AI-genererat skrivande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02920" y="3246120"/>
            <a:ext cx="3200040" cy="36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02920" y="34290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Neuralt nätverk  ·  TF-IDF  ·  ~80% noggrannhet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8"/>
          <p:cNvSpPr/>
          <p:nvPr/>
        </p:nvSpPr>
        <p:spPr>
          <a:xfrm>
            <a:off x="502920" y="13716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9"/>
          <p:cNvSpPr/>
          <p:nvPr/>
        </p:nvSpPr>
        <p:spPr>
          <a:xfrm>
            <a:off x="502920" y="2560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0"/>
          <p:cNvSpPr/>
          <p:nvPr/>
        </p:nvSpPr>
        <p:spPr>
          <a:xfrm>
            <a:off x="502920" y="34290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1198080" y="331560"/>
            <a:ext cx="6748200" cy="4480560"/>
          </a:xfrm>
          <a:prstGeom prst="rect">
            <a:avLst/>
          </a:prstGeom>
          <a:noFill/>
          <a:ln w="29160">
            <a:solidFill>
              <a:srgbClr val="00A896">
                <a:alpha val="0"/>
              </a:srgbClr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02920" y="274320"/>
            <a:ext cx="7817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Uppdraget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502920" y="1097280"/>
            <a:ext cx="4663080" cy="274284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704160" y="1261800"/>
            <a:ext cx="43156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Vi fick i uppdrag att utveckla ett verktyg som kan avgöra om en text är skriven av en människa eller genererad av AI.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Uppdraget kom inte från det håll man kanske förväntar sig.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Uppdragsgivarna var inte ute efter att avslöja fuskare — de ville förstå skillnaderna för att göra sin AI-genererade kommunikation </a:t>
            </a: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varmare, mer personlig och lättare att ta till sig.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5486400" y="1097280"/>
            <a:ext cx="2834280" cy="2742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5623560" y="120708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Tänkbara uppdragsgivare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623560" y="1664280"/>
            <a:ext cx="26514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Psykologmottagningar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Primärvård &amp; vårdcentraler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Socialförvaltningar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HR-avdelningar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Utbildningsinstitutioner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02920" y="274320"/>
            <a:ext cx="7817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Vår vinkel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502920" y="1097280"/>
            <a:ext cx="3565800" cy="292572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502920" y="1097280"/>
            <a:ext cx="3565800" cy="402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612720" y="111564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Traditionell syn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67440" y="1609200"/>
            <a:ext cx="3291480" cy="22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Avslöja AI-text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Flagga automatgenererat innehåll, hitta fuskare i akademiska sammanhang och skydda mot desinformation.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4389120" y="1097280"/>
            <a:ext cx="3931560" cy="2925720"/>
          </a:xfrm>
          <a:prstGeom prst="rect">
            <a:avLst/>
          </a:prstGeom>
          <a:solidFill>
            <a:srgbClr val="E0F5F2"/>
          </a:solidFill>
          <a:ln w="12700">
            <a:solidFill>
              <a:srgbClr val="E0F5F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4389120" y="1097280"/>
            <a:ext cx="3931560" cy="402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4498920" y="111564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Vår syn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4553640" y="1609200"/>
            <a:ext cx="3657240" cy="22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Förstå skillnaderna — och minska dem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Verktyget fungerar som en spegel. Identifiera vad som skiljer mänskligt och maskinellt skrivande åt, och gör AI-text </a:t>
            </a: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varmare och mer personlig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— särskilt viktigt i vård och omsorg.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02920" y="274320"/>
            <a:ext cx="7817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Metoden — tre feature-kanaler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502920" y="914400"/>
            <a:ext cx="7817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Tre parallella feature-kanaler kombineras till en enda inmatning i nätverket.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502920" y="1371600"/>
            <a:ext cx="2520360" cy="306288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1470600" y="1444680"/>
            <a:ext cx="585000" cy="5850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1470600" y="144468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594360" y="2139840"/>
            <a:ext cx="233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Ord-TF-IDF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7"/>
          <p:cNvSpPr/>
          <p:nvPr/>
        </p:nvSpPr>
        <p:spPr>
          <a:xfrm>
            <a:off x="594360" y="2514600"/>
            <a:ext cx="2337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20 000 features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631080" y="2834640"/>
            <a:ext cx="22644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Fångar vilka ord och fraser som används. AI-text återkommer till formuleringar som "sammanfattningsvis" och "det bör noteras" som sällan dyker upp i naturligt skrivande.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9"/>
          <p:cNvSpPr/>
          <p:nvPr/>
        </p:nvSpPr>
        <p:spPr>
          <a:xfrm>
            <a:off x="3151800" y="1371600"/>
            <a:ext cx="2520360" cy="306288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4119480" y="1444680"/>
            <a:ext cx="585000" cy="5850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4119480" y="144468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3243240" y="2139840"/>
            <a:ext cx="233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Tecken-TF-IDF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3243240" y="2514600"/>
            <a:ext cx="2337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8 000 features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3279600" y="2834640"/>
            <a:ext cx="22644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Analyserar mönster </a:t>
            </a: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på teckennivå — </a:t>
            </a: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interpunktion, </a:t>
            </a: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stavning, </a:t>
            </a: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radbrytningar. </a:t>
            </a: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char_wb n-gram (3–</a:t>
            </a: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4 tecken) avslöjar </a:t>
            </a: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stilistiska val som </a:t>
            </a: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ordnivån missar.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5800320" y="1371600"/>
            <a:ext cx="2520360" cy="306288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6"/>
          <p:cNvSpPr/>
          <p:nvPr/>
        </p:nvSpPr>
        <p:spPr>
          <a:xfrm>
            <a:off x="6768000" y="1444680"/>
            <a:ext cx="585000" cy="5850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6768000" y="144468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5891760" y="2139840"/>
            <a:ext cx="233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Textstatistik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5891760" y="2514600"/>
            <a:ext cx="2337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3 features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5928480" y="2834640"/>
            <a:ext cx="22644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Ordantal, genomsnittlig meningslängd och lexikal mångfald. AI-text är ofta anmärkningsvärt jämn och välbalanserad — vilket </a:t>
            </a: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paradoxalt avslöjar den.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02920" y="274320"/>
            <a:ext cx="7817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Data &amp; </a:t>
            </a:r>
            <a:r>
              <a:rPr lang="en-US" sz="32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Förbehandling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502920" y="1005840"/>
            <a:ext cx="2544840" cy="1371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502920" y="1078920"/>
            <a:ext cx="25448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332 000+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502920" y="1847160"/>
            <a:ext cx="254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texter i datasetet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3139560" y="1005840"/>
            <a:ext cx="2544840" cy="1371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3139560" y="1078920"/>
            <a:ext cx="25448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265 000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3139560" y="1847160"/>
            <a:ext cx="254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träningstexter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5775840" y="1005840"/>
            <a:ext cx="2544840" cy="1371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5775840" y="1078920"/>
            <a:ext cx="25448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66 000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5775840" y="1847160"/>
            <a:ext cx="254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testtexter (30%)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502920" y="2541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Förbehandlingssteg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502920" y="2944440"/>
            <a:ext cx="781776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Ta bort källnamn &amp; URL:er (remove_source_leaks)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Dela upp i träning / test FÖRE TF-IDF — undviker datainläckage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Anpassa ord-TF-IDF och tecken-TF-IDF enbart på träningsdata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Beräkna textstatistik (ordantal, meningslängd, lexikal mångfald)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Kombinera kanalerna med hstack → StandardScaler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1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1"/>
          <p:cNvSpPr/>
          <p:nvPr/>
        </p:nvSpPr>
        <p:spPr>
          <a:xfrm>
            <a:off x="502920" y="274320"/>
            <a:ext cx="7817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9"/>
          <p:cNvSpPr/>
          <p:nvPr/>
        </p:nvSpPr>
        <p:spPr>
          <a:xfrm>
            <a:off x="502920" y="2944440"/>
            <a:ext cx="781776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"/>
          <p:cNvPicPr/>
          <p:nvPr/>
        </p:nvPicPr>
        <p:blipFill>
          <a:blip r:embed="rId1"/>
          <a:stretch/>
        </p:blipFill>
        <p:spPr>
          <a:xfrm>
            <a:off x="182880" y="1374120"/>
            <a:ext cx="8778240" cy="239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02920" y="274320"/>
            <a:ext cx="7817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Grid Search — hyperparameteroptimering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02920" y="896040"/>
            <a:ext cx="7817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scikeras + GridSearchCV, 3-fold 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korsvalidering, körs på urval för 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hanterbar körtid.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502920" y="1353240"/>
            <a:ext cx="3748680" cy="320004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667440" y="148140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Sökta parametrar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667440" y="193860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Aktivering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2880360" y="193860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relu, tanh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667440" y="234072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Dropout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2880360" y="234072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0.2 / 0.3 / 0.4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667440" y="274320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Inlärningshastighet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2880360" y="274320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0.001, 0.00003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667440" y="314568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Optimizer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2880360" y="314568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adam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667440" y="354780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Neuroner lager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2880360" y="354780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667440" y="395028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Neuroner lager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2880360" y="395028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7"/>
          <p:cNvSpPr/>
          <p:nvPr/>
        </p:nvSpPr>
        <p:spPr>
          <a:xfrm>
            <a:off x="4572000" y="1353240"/>
            <a:ext cx="3748680" cy="32000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4736520" y="148140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Bästa resultat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4572000" y="1901880"/>
            <a:ext cx="3748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tanh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4572000" y="2670120"/>
            <a:ext cx="3748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vann över relu som aktivering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4572000" y="3035880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Dropout 0.4  ·  lr 0.001  ·  adam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Balanced accuracy: 0.61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2"/>
          <p:cNvSpPr/>
          <p:nvPr/>
        </p:nvSpPr>
        <p:spPr>
          <a:xfrm>
            <a:off x="4572000" y="382212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Tillämpades direkt i config.py — aktivering ändrades från relu till tanh.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502920" y="274320"/>
            <a:ext cx="7817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Modell &amp; Resultat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"/>
          <p:cNvSpPr/>
          <p:nvPr/>
        </p:nvSpPr>
        <p:spPr>
          <a:xfrm>
            <a:off x="502920" y="1097280"/>
            <a:ext cx="3794400" cy="347436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667440" y="1207080"/>
            <a:ext cx="352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Arkitektur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667440" y="1664280"/>
            <a:ext cx="3520080" cy="566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758880" y="1700640"/>
            <a:ext cx="335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758880" y="1974960"/>
            <a:ext cx="335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28 003 features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7"/>
          <p:cNvSpPr/>
          <p:nvPr/>
        </p:nvSpPr>
        <p:spPr>
          <a:xfrm>
            <a:off x="667440" y="2359080"/>
            <a:ext cx="3520080" cy="566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758880" y="2395800"/>
            <a:ext cx="335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Dense 32  tanh  + Dropout 0.4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758880" y="2670120"/>
            <a:ext cx="335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 L2-regularisering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667440" y="3054240"/>
            <a:ext cx="3520080" cy="566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758880" y="3090600"/>
            <a:ext cx="335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Dense 16  tanh  + Dropout 0.3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758880" y="3364920"/>
            <a:ext cx="335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 L2-regularisering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3"/>
          <p:cNvSpPr/>
          <p:nvPr/>
        </p:nvSpPr>
        <p:spPr>
          <a:xfrm>
            <a:off x="667440" y="3749040"/>
            <a:ext cx="3520080" cy="5666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758880" y="3785760"/>
            <a:ext cx="335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Dense 1  sigmoid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758880" y="4060080"/>
            <a:ext cx="335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Binär klassificering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6"/>
          <p:cNvSpPr/>
          <p:nvPr/>
        </p:nvSpPr>
        <p:spPr>
          <a:xfrm>
            <a:off x="4526280" y="1097280"/>
            <a:ext cx="3794400" cy="34743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7"/>
          <p:cNvSpPr/>
          <p:nvPr/>
        </p:nvSpPr>
        <p:spPr>
          <a:xfrm>
            <a:off x="4690800" y="1207080"/>
            <a:ext cx="352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Resultat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8"/>
          <p:cNvSpPr/>
          <p:nvPr/>
        </p:nvSpPr>
        <p:spPr>
          <a:xfrm>
            <a:off x="4526280" y="1664280"/>
            <a:ext cx="3794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~80%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4526280" y="2578680"/>
            <a:ext cx="3794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noggrannhet på testdata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0"/>
          <p:cNvSpPr/>
          <p:nvPr/>
        </p:nvSpPr>
        <p:spPr>
          <a:xfrm>
            <a:off x="4690800" y="29991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Precision (AI)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7223760" y="2999160"/>
            <a:ext cx="914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0.83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2"/>
          <p:cNvSpPr/>
          <p:nvPr/>
        </p:nvSpPr>
        <p:spPr>
          <a:xfrm>
            <a:off x="4690800" y="337428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Recall (AI)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3"/>
          <p:cNvSpPr/>
          <p:nvPr/>
        </p:nvSpPr>
        <p:spPr>
          <a:xfrm>
            <a:off x="7223760" y="3374280"/>
            <a:ext cx="914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0.82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4"/>
          <p:cNvSpPr/>
          <p:nvPr/>
        </p:nvSpPr>
        <p:spPr>
          <a:xfrm>
            <a:off x="4690800" y="374904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F1-score (snitt)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5"/>
          <p:cNvSpPr/>
          <p:nvPr/>
        </p:nvSpPr>
        <p:spPr>
          <a:xfrm>
            <a:off x="7223760" y="3749040"/>
            <a:ext cx="914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0.83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6"/>
          <p:cNvSpPr/>
          <p:nvPr/>
        </p:nvSpPr>
        <p:spPr>
          <a:xfrm>
            <a:off x="4690800" y="412380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Early stopping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7"/>
          <p:cNvSpPr/>
          <p:nvPr/>
        </p:nvSpPr>
        <p:spPr>
          <a:xfrm>
            <a:off x="7223760" y="4123800"/>
            <a:ext cx="914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val_loss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23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"/>
          <p:cNvPicPr/>
          <p:nvPr/>
        </p:nvPicPr>
        <p:blipFill>
          <a:blip r:embed="rId1"/>
          <a:stretch/>
        </p:blipFill>
        <p:spPr>
          <a:xfrm>
            <a:off x="173880" y="1022040"/>
            <a:ext cx="8796600" cy="309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2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"/>
          <p:cNvPicPr/>
          <p:nvPr/>
        </p:nvPicPr>
        <p:blipFill>
          <a:blip r:embed="rId1"/>
          <a:stretch/>
        </p:blipFill>
        <p:spPr>
          <a:xfrm>
            <a:off x="182880" y="1022040"/>
            <a:ext cx="8778240" cy="309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21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"/>
          <p:cNvPicPr/>
          <p:nvPr/>
        </p:nvPicPr>
        <p:blipFill>
          <a:blip r:embed="rId1"/>
          <a:stretch/>
        </p:blipFill>
        <p:spPr>
          <a:xfrm>
            <a:off x="356760" y="70920"/>
            <a:ext cx="8430840" cy="500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502920" y="274320"/>
            <a:ext cx="7817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Webbappen — </a:t>
            </a:r>
            <a:r>
              <a:rPr lang="en-US" sz="32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Streamlit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502920" y="951120"/>
            <a:ext cx="7817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streamlit run app.py  →  localhost:8501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502920" y="1417320"/>
            <a:ext cx="3794400" cy="148104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667440" y="1581840"/>
            <a:ext cx="502560" cy="5025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667440" y="1581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1307520" y="16002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Klistra in 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685800" y="2075760"/>
            <a:ext cx="344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Valfri text matas in i ett textfält direkt i webbläsaren — ingen kod behövs.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4526280" y="1417320"/>
            <a:ext cx="3794400" cy="148104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4690800" y="1581840"/>
            <a:ext cx="502560" cy="5025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4690800" y="1581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5330880" y="16002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Analys i realtid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4709160" y="2075760"/>
            <a:ext cx="344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Samma pipeline som träningen: källrensning → TF-IDF → statistik → skalning → förutsägelse.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502920" y="3081600"/>
            <a:ext cx="3794400" cy="148104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667440" y="3246120"/>
            <a:ext cx="502560" cy="5025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67440" y="32461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1307520" y="326448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Tydligt resultat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685800" y="3740040"/>
            <a:ext cx="344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Visar AI / Människa / Oklart med konfidenspoäng och de ord som påverkade beslutet mest.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4526280" y="3081600"/>
            <a:ext cx="3794400" cy="1481040"/>
          </a:xfrm>
          <a:prstGeom prst="rect">
            <a:avLst/>
          </a:prstGeom>
          <a:solidFill>
            <a:srgbClr val="F0F6F9"/>
          </a:solidFill>
          <a:ln w="12700">
            <a:solidFill>
              <a:srgbClr val="F0F6F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9"/>
          <p:cNvSpPr/>
          <p:nvPr/>
        </p:nvSpPr>
        <p:spPr>
          <a:xfrm>
            <a:off x="4690800" y="3246120"/>
            <a:ext cx="502560" cy="5025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4690800" y="32461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5330880" y="326448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Export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2"/>
          <p:cNvSpPr/>
          <p:nvPr/>
        </p:nvSpPr>
        <p:spPr>
          <a:xfrm>
            <a:off x="4709160" y="3740040"/>
            <a:ext cx="3447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Ladda ned en komplett analysrapport som CSV-fil direkt från webbläsaren.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502920" y="411480"/>
            <a:ext cx="7817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Slutsats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502920" y="1298520"/>
            <a:ext cx="54360" cy="566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704160" y="1298520"/>
            <a:ext cx="7616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Verktyget fungerar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704160" y="1600200"/>
            <a:ext cx="761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~80% noggrannhet med tre komplementära feature-kanaler på ett stort och varierat dataset.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502920" y="2212920"/>
            <a:ext cx="54360" cy="566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704160" y="2212920"/>
            <a:ext cx="7616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En ny vinkel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704160" y="2514600"/>
            <a:ext cx="761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AI-textdetektering behöver inte bara handla om att avslöja — det kan vara ett verktyg för bättre mänsklig kommunikation.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502920" y="3127320"/>
            <a:ext cx="54360" cy="566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704160" y="3127320"/>
            <a:ext cx="7616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Grid search gav svar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704160" y="3429000"/>
            <a:ext cx="761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tanh visade sig bättre än relu — ett resultat som direkt tillämpades i config.py och förbättrade modellen.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502920" y="4041720"/>
            <a:ext cx="54360" cy="566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704160" y="4041720"/>
            <a:ext cx="7616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Redo att använda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704160" y="4343400"/>
            <a:ext cx="761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Webbappen gör det möjligt att testa modellen utan teknisk bakgrund.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LibreOffice/26.2.0.3$Windows_X86_64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2026-05-27T16:21:23Z</dcterms:created>
  <dc:creator>PptxGenJS</dc:creator>
  <dc:description/>
  <dc:language>en-US</dc:language>
  <cp:lastModifiedBy/>
  <dcterms:modified xsi:type="dcterms:W3CDTF">2026-05-27T21:37:04Z</dcterms:modified>
  <cp:revision>3</cp:revision>
  <dc:subject>PptxGenJS Presentation</dc:subject>
  <dc:title>AI-textdetektor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